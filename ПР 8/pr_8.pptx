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57" r:id="rId5"/>
    <p:sldId id="258" r:id="rId6"/>
    <p:sldId id="263" r:id="rId7"/>
    <p:sldId id="260" r:id="rId8"/>
    <p:sldId id="262" r:id="rId9"/>
    <p:sldId id="264" r:id="rId10"/>
    <p:sldId id="270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8FA6-0897-4F5F-AA03-565A86CD67A2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EF4-8D7F-41C7-B300-E7E8425FBB5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8FA6-0897-4F5F-AA03-565A86CD67A2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EF4-8D7F-41C7-B300-E7E8425FBB5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8FA6-0897-4F5F-AA03-565A86CD67A2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EF4-8D7F-41C7-B300-E7E8425FBB5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8FA6-0897-4F5F-AA03-565A86CD67A2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EF4-8D7F-41C7-B300-E7E8425FBB5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8FA6-0897-4F5F-AA03-565A86CD67A2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EF4-8D7F-41C7-B300-E7E8425FBB5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8FA6-0897-4F5F-AA03-565A86CD67A2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EF4-8D7F-41C7-B300-E7E8425FBB5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8FA6-0897-4F5F-AA03-565A86CD67A2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EF4-8D7F-41C7-B300-E7E8425FBB5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8FA6-0897-4F5F-AA03-565A86CD67A2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EF4-8D7F-41C7-B300-E7E8425FBB5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8FA6-0897-4F5F-AA03-565A86CD67A2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EF4-8D7F-41C7-B300-E7E8425FBB5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8FA6-0897-4F5F-AA03-565A86CD67A2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EF4-8D7F-41C7-B300-E7E8425FBB5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88FA6-0897-4F5F-AA03-565A86CD67A2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4DEF4-8D7F-41C7-B300-E7E8425FBB5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88FA6-0897-4F5F-AA03-565A86CD67A2}" type="datetimeFigureOut">
              <a:rPr lang="ru-RU" smtClean="0"/>
              <a:pPr/>
              <a:t>08.02.2026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4DEF4-8D7F-41C7-B300-E7E8425FBB5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155679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Генерация простых чисел, используемых в асимметричных алгоритмах шифрования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</a:rPr>
              <a:t>Практическая</a:t>
            </a:r>
            <a:r>
              <a:rPr lang="ru-RU" b="1" dirty="0" smtClean="0">
                <a:solidFill>
                  <a:srgbClr val="FF0000"/>
                </a:solidFill>
              </a:rPr>
              <a:t> </a:t>
            </a:r>
            <a:r>
              <a:rPr lang="ru-RU" b="1" dirty="0" smtClean="0">
                <a:solidFill>
                  <a:srgbClr val="FF0000"/>
                </a:solidFill>
              </a:rPr>
              <a:t>работа № </a:t>
            </a:r>
            <a:r>
              <a:rPr lang="ru-RU" b="1" dirty="0" smtClean="0">
                <a:solidFill>
                  <a:srgbClr val="FF0000"/>
                </a:solidFill>
              </a:rPr>
              <a:t>8</a:t>
            </a:r>
            <a:endParaRPr lang="ru-RU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b="1" dirty="0" smtClean="0"/>
              <a:t>Вероятность </a:t>
            </a:r>
            <a:r>
              <a:rPr lang="ru-RU" sz="3600" b="1" dirty="0"/>
              <a:t>(в процентах) оказаться простым для </a:t>
            </a:r>
            <a:r>
              <a:rPr lang="ru-RU" sz="3600" b="1" i="1" dirty="0"/>
              <a:t>k</a:t>
            </a:r>
            <a:r>
              <a:rPr lang="ru-RU" sz="3600" b="1" dirty="0"/>
              <a:t>-значных чисел: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556792"/>
            <a:ext cx="8547811" cy="1020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55776" y="3861047"/>
            <a:ext cx="4438955" cy="102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467544" y="26369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sz="3600" b="1" dirty="0" smtClean="0"/>
              <a:t>Доля </a:t>
            </a:r>
            <a:r>
              <a:rPr lang="ru-RU" sz="3600" b="1" dirty="0"/>
              <a:t>чисел, не имеющих делителей меньших 10</a:t>
            </a:r>
            <a:r>
              <a:rPr lang="ru-RU" sz="3600" b="1" i="1" baseline="30000" dirty="0"/>
              <a:t>k</a:t>
            </a:r>
            <a:r>
              <a:rPr lang="ru-RU" sz="3600" b="1" dirty="0"/>
              <a:t> (в процентах</a:t>
            </a:r>
            <a:r>
              <a:rPr lang="ru-RU" sz="3600" b="1" dirty="0" smtClean="0"/>
              <a:t>) </a:t>
            </a:r>
            <a:r>
              <a:rPr kumimoji="0" lang="ru-RU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0" y="5013176"/>
            <a:ext cx="9144000" cy="15841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lang="ru-RU" sz="3600" b="1" dirty="0"/>
              <a:t>Важной задачей до сих пор остается разработка эффективных методов проверки простоты</a:t>
            </a:r>
            <a:endParaRPr kumimoji="0" lang="ru-RU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ru-RU" b="1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ru-RU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(x)</a:t>
            </a:r>
            <a:endParaRPr lang="ru-RU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1756792"/>
          </a:xfrm>
        </p:spPr>
        <p:txBody>
          <a:bodyPr/>
          <a:lstStyle/>
          <a:p>
            <a:pPr indent="19050" algn="ctr">
              <a:buNone/>
            </a:pPr>
            <a:r>
              <a:rPr lang="ru-RU" b="1" dirty="0" smtClean="0"/>
              <a:t>Количество простых чисел, не превышающих  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b="1" dirty="0" smtClean="0"/>
              <a:t> в теории чисел принято обозначать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indent="19050"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" y="2348880"/>
            <a:ext cx="9136380" cy="780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3" name="AutoShape 5" descr="Функция распределения простых чисел — Википед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/>
          <a:srcRect t="1138"/>
          <a:stretch>
            <a:fillRect/>
          </a:stretch>
        </p:blipFill>
        <p:spPr bwMode="auto">
          <a:xfrm>
            <a:off x="1835696" y="3179128"/>
            <a:ext cx="5129022" cy="3313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Малая теорема Ферма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ru-RU" sz="4000" b="1" dirty="0"/>
              <a:t>Если </a:t>
            </a:r>
            <a:r>
              <a:rPr lang="ru-RU" sz="4000" b="1" i="1" dirty="0"/>
              <a:t>p</a:t>
            </a:r>
            <a:r>
              <a:rPr lang="ru-RU" sz="4000" b="1" dirty="0"/>
              <a:t> – простое и </a:t>
            </a:r>
            <a:r>
              <a:rPr lang="ru-RU" sz="4000" b="1" i="1" dirty="0"/>
              <a:t>a</a:t>
            </a:r>
            <a:r>
              <a:rPr lang="ru-RU" sz="4000" b="1" dirty="0"/>
              <a:t> не делится </a:t>
            </a:r>
            <a:endParaRPr lang="ru-RU" sz="4000" b="1" dirty="0" smtClean="0"/>
          </a:p>
          <a:p>
            <a:pPr algn="ctr">
              <a:buNone/>
            </a:pPr>
            <a:r>
              <a:rPr lang="ru-RU" sz="4000" b="1" dirty="0" smtClean="0"/>
              <a:t>на</a:t>
            </a:r>
            <a:r>
              <a:rPr lang="ru-RU" sz="4000" b="1" dirty="0"/>
              <a:t> </a:t>
            </a:r>
            <a:r>
              <a:rPr lang="ru-RU" sz="4000" b="1" i="1" dirty="0"/>
              <a:t>p</a:t>
            </a:r>
            <a:r>
              <a:rPr lang="ru-RU" sz="4000" b="1" dirty="0"/>
              <a:t>, то </a:t>
            </a:r>
            <a:r>
              <a:rPr lang="ru-RU" sz="4000" b="1" i="1" dirty="0"/>
              <a:t>a</a:t>
            </a:r>
            <a:r>
              <a:rPr lang="ru-RU" sz="4000" b="1" i="1" baseline="30000" dirty="0"/>
              <a:t>p</a:t>
            </a:r>
            <a:r>
              <a:rPr lang="ru-RU" sz="4000" b="1" baseline="30000" dirty="0"/>
              <a:t> -1</a:t>
            </a:r>
            <a:r>
              <a:rPr lang="ru-RU" sz="4000" b="1" dirty="0"/>
              <a:t> </a:t>
            </a:r>
            <a:r>
              <a:rPr lang="ru-RU" sz="4000" b="1" dirty="0" smtClean="0"/>
              <a:t>≡ </a:t>
            </a:r>
            <a:r>
              <a:rPr lang="ru-RU" sz="4000" b="1" dirty="0"/>
              <a:t>1 mod </a:t>
            </a:r>
            <a:r>
              <a:rPr lang="ru-RU" sz="4000" b="1" i="1" dirty="0" smtClean="0"/>
              <a:t>p</a:t>
            </a:r>
          </a:p>
          <a:p>
            <a:pPr algn="ctr">
              <a:buNone/>
            </a:pPr>
            <a:r>
              <a:rPr lang="ru-RU" sz="4000" dirty="0"/>
              <a:t>Обратное утверждение неверно, то есть из того, что </a:t>
            </a:r>
            <a:r>
              <a:rPr lang="ru-RU" sz="4000" i="1" dirty="0"/>
              <a:t>a</a:t>
            </a:r>
            <a:r>
              <a:rPr lang="ru-RU" sz="4000" i="1" baseline="30000" dirty="0"/>
              <a:t>p</a:t>
            </a:r>
            <a:r>
              <a:rPr lang="ru-RU" sz="4000" baseline="30000" dirty="0"/>
              <a:t> -1</a:t>
            </a:r>
            <a:r>
              <a:rPr lang="ru-RU" sz="4000" dirty="0"/>
              <a:t> ≡ 1 mod </a:t>
            </a:r>
            <a:r>
              <a:rPr lang="ru-RU" sz="4000" i="1" dirty="0"/>
              <a:t>p</a:t>
            </a:r>
            <a:r>
              <a:rPr lang="ru-RU" sz="4000" dirty="0"/>
              <a:t> не следует, что </a:t>
            </a:r>
            <a:r>
              <a:rPr lang="ru-RU" sz="4000" i="1" dirty="0"/>
              <a:t>p</a:t>
            </a:r>
            <a:r>
              <a:rPr lang="ru-RU" sz="4000" dirty="0"/>
              <a:t> – простое, например </a:t>
            </a:r>
            <a:endParaRPr lang="ru-RU" sz="4000" dirty="0" smtClean="0"/>
          </a:p>
          <a:p>
            <a:pPr algn="ctr">
              <a:buNone/>
            </a:pPr>
            <a:r>
              <a:rPr lang="ru-RU" sz="4000" dirty="0" smtClean="0"/>
              <a:t>2</a:t>
            </a:r>
            <a:r>
              <a:rPr lang="ru-RU" sz="4000" baseline="30000" dirty="0" smtClean="0"/>
              <a:t>11 </a:t>
            </a:r>
            <a:r>
              <a:rPr lang="ru-RU" sz="4000" baseline="30000" dirty="0"/>
              <a:t>· 31-1</a:t>
            </a:r>
            <a:r>
              <a:rPr lang="ru-RU" sz="4000" dirty="0"/>
              <a:t> ≡ 1 mod 11 · 31. </a:t>
            </a:r>
            <a:endParaRPr lang="ru-RU" sz="4000" dirty="0" smtClean="0"/>
          </a:p>
          <a:p>
            <a:pPr algn="ctr">
              <a:buNone/>
            </a:pPr>
            <a:r>
              <a:rPr lang="ru-RU" sz="4000" dirty="0" smtClean="0"/>
              <a:t>Тем </a:t>
            </a:r>
            <a:r>
              <a:rPr lang="ru-RU" sz="4000" dirty="0"/>
              <a:t>не менее, если для некоторого </a:t>
            </a:r>
            <a:r>
              <a:rPr lang="ru-RU" sz="4000" i="1" dirty="0"/>
              <a:t>a</a:t>
            </a:r>
            <a:r>
              <a:rPr lang="ru-RU" sz="4000" dirty="0"/>
              <a:t> выполнено </a:t>
            </a:r>
            <a:r>
              <a:rPr lang="ru-RU" sz="4000" i="1" dirty="0"/>
              <a:t>a</a:t>
            </a:r>
            <a:r>
              <a:rPr lang="ru-RU" sz="4000" i="1" baseline="30000" dirty="0"/>
              <a:t>n-1</a:t>
            </a:r>
            <a:r>
              <a:rPr lang="ru-RU" sz="4000" dirty="0"/>
              <a:t> ≡ 1 mod </a:t>
            </a:r>
            <a:r>
              <a:rPr lang="ru-RU" sz="4000" i="1" dirty="0"/>
              <a:t>n</a:t>
            </a:r>
            <a:r>
              <a:rPr lang="ru-RU" sz="4000" dirty="0"/>
              <a:t>, то число </a:t>
            </a:r>
            <a:r>
              <a:rPr lang="ru-RU" sz="4000" i="1" dirty="0"/>
              <a:t>n</a:t>
            </a:r>
            <a:r>
              <a:rPr lang="ru-RU" sz="4000" dirty="0"/>
              <a:t> почти наверняка простое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</a:rPr>
              <a:t>Псевдопростые числа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340768"/>
            <a:ext cx="8784976" cy="5184576"/>
          </a:xfrm>
        </p:spPr>
        <p:txBody>
          <a:bodyPr>
            <a:normAutofit fontScale="85000" lnSpcReduction="20000"/>
          </a:bodyPr>
          <a:lstStyle/>
          <a:p>
            <a:pPr indent="19050" algn="ctr">
              <a:buNone/>
            </a:pPr>
            <a:r>
              <a:rPr lang="ru-RU" sz="4000" b="1" dirty="0"/>
              <a:t>Составное число </a:t>
            </a:r>
            <a:r>
              <a:rPr lang="ru-RU" sz="4000" b="1" i="1" dirty="0"/>
              <a:t>n</a:t>
            </a:r>
            <a:r>
              <a:rPr lang="ru-RU" sz="4000" b="1" dirty="0"/>
              <a:t> называется псевдопростым по основанию </a:t>
            </a:r>
            <a:r>
              <a:rPr lang="ru-RU" sz="4000" b="1" i="1" dirty="0"/>
              <a:t>a</a:t>
            </a:r>
            <a:r>
              <a:rPr lang="ru-RU" sz="4000" b="1" dirty="0"/>
              <a:t>, если </a:t>
            </a:r>
            <a:endParaRPr lang="ru-RU" sz="4000" b="1" dirty="0" smtClean="0"/>
          </a:p>
          <a:p>
            <a:pPr indent="19050" algn="ctr">
              <a:buNone/>
            </a:pPr>
            <a:r>
              <a:rPr lang="ru-RU" sz="4000" b="1" i="1" dirty="0" smtClean="0"/>
              <a:t>a</a:t>
            </a:r>
            <a:r>
              <a:rPr lang="ru-RU" sz="4000" b="1" i="1" baseline="30000" dirty="0" smtClean="0"/>
              <a:t>n</a:t>
            </a:r>
            <a:r>
              <a:rPr lang="ru-RU" sz="4000" b="1" baseline="30000" dirty="0"/>
              <a:t> -1</a:t>
            </a:r>
            <a:r>
              <a:rPr lang="ru-RU" sz="4000" b="1" dirty="0"/>
              <a:t> ≡ 1 mod </a:t>
            </a:r>
            <a:r>
              <a:rPr lang="ru-RU" sz="4000" b="1" i="1" dirty="0" smtClean="0"/>
              <a:t>n</a:t>
            </a:r>
            <a:endParaRPr lang="ru-RU" sz="4000" b="1" dirty="0" smtClean="0"/>
          </a:p>
          <a:p>
            <a:r>
              <a:rPr lang="ru-RU" sz="4000" dirty="0"/>
              <a:t>среди чисел меньших 2</a:t>
            </a:r>
            <a:r>
              <a:rPr lang="ru-RU" sz="4000" baseline="30000" dirty="0"/>
              <a:t>32</a:t>
            </a:r>
            <a:r>
              <a:rPr lang="ru-RU" sz="4000" dirty="0"/>
              <a:t> псевдопростых по основанию 2 оказывается 10403 (на 200 млн. простых), среди чисел меньших 2</a:t>
            </a:r>
            <a:r>
              <a:rPr lang="ru-RU" sz="4000" baseline="30000" dirty="0"/>
              <a:t>64</a:t>
            </a:r>
            <a:r>
              <a:rPr lang="ru-RU" sz="4000" dirty="0"/>
              <a:t> – 118 968 378 (на 4 · 10</a:t>
            </a:r>
            <a:r>
              <a:rPr lang="ru-RU" sz="4000" baseline="30000" dirty="0"/>
              <a:t>17</a:t>
            </a:r>
            <a:r>
              <a:rPr lang="ru-RU" sz="4000" dirty="0"/>
              <a:t> простых).</a:t>
            </a:r>
          </a:p>
          <a:p>
            <a:r>
              <a:rPr lang="ru-RU" sz="4000" dirty="0" smtClean="0"/>
              <a:t>среди </a:t>
            </a:r>
            <a:r>
              <a:rPr lang="ru-RU" sz="4000" dirty="0"/>
              <a:t>10403 чисел меньших 2</a:t>
            </a:r>
            <a:r>
              <a:rPr lang="ru-RU" sz="4000" baseline="30000" dirty="0"/>
              <a:t>32</a:t>
            </a:r>
            <a:r>
              <a:rPr lang="ru-RU" sz="4000" dirty="0"/>
              <a:t> псевдопростых по основанию 2, псевдопростыми и по основанию 3 оказывается 2318 штук.</a:t>
            </a:r>
          </a:p>
          <a:p>
            <a:pPr indent="19050" algn="ctr">
              <a:buNone/>
            </a:pPr>
            <a:endParaRPr lang="ru-RU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</a:rPr>
              <a:t>Метод пробных делений</a:t>
            </a: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31086" y="1600200"/>
            <a:ext cx="328182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</a:rPr>
              <a:t>Решето </a:t>
            </a:r>
            <a:r>
              <a:rPr lang="ru-RU" b="1" dirty="0">
                <a:solidFill>
                  <a:srgbClr val="FF0000"/>
                </a:solidFill>
              </a:rPr>
              <a:t>Э</a:t>
            </a:r>
            <a:r>
              <a:rPr lang="ru-RU" b="1" dirty="0" smtClean="0">
                <a:solidFill>
                  <a:srgbClr val="FF0000"/>
                </a:solidFill>
              </a:rPr>
              <a:t>ратосфена</a:t>
            </a: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4" name="Содержимое 3" descr="New_Animation_Sieve_of_Eratosthenes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411760" y="3284984"/>
            <a:ext cx="4221480" cy="3390900"/>
          </a:xfrm>
        </p:spPr>
      </p:pic>
      <p:sp>
        <p:nvSpPr>
          <p:cNvPr id="5" name="TextBox 4"/>
          <p:cNvSpPr txBox="1"/>
          <p:nvPr/>
        </p:nvSpPr>
        <p:spPr>
          <a:xfrm>
            <a:off x="683568" y="1052736"/>
            <a:ext cx="78488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/>
              <a:t>Выписать подряд все целые числа от двух до </a:t>
            </a:r>
            <a:r>
              <a:rPr lang="ru-RU" i="1" dirty="0"/>
              <a:t>n</a:t>
            </a:r>
            <a:r>
              <a:rPr lang="ru-RU" dirty="0"/>
              <a:t> (2, 3, 4, …, </a:t>
            </a:r>
            <a:r>
              <a:rPr lang="ru-RU" i="1" dirty="0"/>
              <a:t>n</a:t>
            </a:r>
            <a:r>
              <a:rPr lang="ru-RU" dirty="0"/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Пусть переменная </a:t>
            </a:r>
            <a:r>
              <a:rPr lang="ru-RU" i="1" dirty="0"/>
              <a:t>p</a:t>
            </a:r>
            <a:r>
              <a:rPr lang="ru-RU" dirty="0"/>
              <a:t> изначально равна двум — первому простому числу.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Зачеркнуть в списке числа от 2</a:t>
            </a:r>
            <a:r>
              <a:rPr lang="ru-RU" i="1" dirty="0"/>
              <a:t>p</a:t>
            </a:r>
            <a:r>
              <a:rPr lang="ru-RU" dirty="0"/>
              <a:t> до </a:t>
            </a:r>
            <a:r>
              <a:rPr lang="ru-RU" i="1" dirty="0"/>
              <a:t>n</a:t>
            </a:r>
            <a:r>
              <a:rPr lang="ru-RU" dirty="0"/>
              <a:t> считая шагами по </a:t>
            </a:r>
            <a:r>
              <a:rPr lang="ru-RU" i="1" dirty="0"/>
              <a:t>p</a:t>
            </a:r>
            <a:r>
              <a:rPr lang="ru-RU" dirty="0"/>
              <a:t> (это будут числа кратные </a:t>
            </a:r>
            <a:r>
              <a:rPr lang="ru-RU" i="1" dirty="0"/>
              <a:t>p</a:t>
            </a:r>
            <a:r>
              <a:rPr lang="ru-RU" dirty="0"/>
              <a:t>: 2</a:t>
            </a:r>
            <a:r>
              <a:rPr lang="ru-RU" i="1" dirty="0"/>
              <a:t>p</a:t>
            </a:r>
            <a:r>
              <a:rPr lang="ru-RU" dirty="0"/>
              <a:t>, 3</a:t>
            </a:r>
            <a:r>
              <a:rPr lang="ru-RU" i="1" dirty="0"/>
              <a:t>p</a:t>
            </a:r>
            <a:r>
              <a:rPr lang="ru-RU" dirty="0"/>
              <a:t>, 4</a:t>
            </a:r>
            <a:r>
              <a:rPr lang="ru-RU" i="1" dirty="0"/>
              <a:t>p</a:t>
            </a:r>
            <a:r>
              <a:rPr lang="ru-RU" dirty="0"/>
              <a:t>, …).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Найти первое незачёркнутое число в списке, большее чем </a:t>
            </a:r>
            <a:r>
              <a:rPr lang="ru-RU" i="1" dirty="0"/>
              <a:t>p</a:t>
            </a:r>
            <a:r>
              <a:rPr lang="ru-RU" dirty="0"/>
              <a:t>, и присвоить значению переменной </a:t>
            </a:r>
            <a:r>
              <a:rPr lang="ru-RU" i="1" dirty="0"/>
              <a:t>p</a:t>
            </a:r>
            <a:r>
              <a:rPr lang="ru-RU" dirty="0"/>
              <a:t> это число.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Повторять шаги 3 и 4, пока возможно.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</a:rPr>
              <a:t>Тест Ферма на простоту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Для любого </a:t>
            </a:r>
            <a:r>
              <a:rPr lang="ru-RU" dirty="0" smtClean="0"/>
              <a:t>n&gt;1</a:t>
            </a:r>
            <a:r>
              <a:rPr lang="ru-RU" dirty="0"/>
              <a:t> выбираем </a:t>
            </a:r>
            <a:r>
              <a:rPr lang="ru-RU" dirty="0" smtClean="0"/>
              <a:t>a&gt;1, </a:t>
            </a:r>
            <a:r>
              <a:rPr lang="ru-RU" dirty="0"/>
              <a:t>вычисляем </a:t>
            </a:r>
            <a:r>
              <a:rPr lang="ru-RU" dirty="0" smtClean="0"/>
              <a:t>a</a:t>
            </a:r>
            <a:r>
              <a:rPr lang="ru-RU" baseline="30000" dirty="0" smtClean="0"/>
              <a:t>n</a:t>
            </a:r>
            <a:r>
              <a:rPr lang="ru-RU" baseline="30000" dirty="0"/>
              <a:t>−</a:t>
            </a:r>
            <a:r>
              <a:rPr lang="ru-RU" baseline="30000" dirty="0" smtClean="0"/>
              <a:t>1</a:t>
            </a:r>
            <a:r>
              <a:rPr lang="ru-RU" dirty="0" smtClean="0"/>
              <a:t>(mod n), </a:t>
            </a:r>
            <a:r>
              <a:rPr lang="ru-RU" dirty="0"/>
              <a:t>если результат не </a:t>
            </a:r>
            <a:r>
              <a:rPr lang="ru-RU" dirty="0" smtClean="0"/>
              <a:t>1, </a:t>
            </a:r>
            <a:r>
              <a:rPr lang="ru-RU" dirty="0"/>
              <a:t>то </a:t>
            </a:r>
            <a:r>
              <a:rPr lang="ru-RU" dirty="0" smtClean="0"/>
              <a:t>n</a:t>
            </a:r>
            <a:r>
              <a:rPr lang="ru-RU" dirty="0"/>
              <a:t> составное, если </a:t>
            </a:r>
            <a:r>
              <a:rPr lang="ru-RU" dirty="0" smtClean="0"/>
              <a:t>1</a:t>
            </a:r>
            <a:r>
              <a:rPr lang="ru-RU" dirty="0"/>
              <a:t>, то </a:t>
            </a:r>
            <a:r>
              <a:rPr lang="ru-RU" dirty="0" smtClean="0"/>
              <a:t>n</a:t>
            </a:r>
            <a:r>
              <a:rPr lang="ru-RU" dirty="0"/>
              <a:t> — слабовозможно простое</a:t>
            </a:r>
            <a:r>
              <a:rPr lang="ru-RU" dirty="0" smtClean="0"/>
              <a:t>.</a:t>
            </a:r>
          </a:p>
          <a:p>
            <a:r>
              <a:rPr lang="ru-RU" dirty="0" smtClean="0"/>
              <a:t>Можно сделать </a:t>
            </a:r>
            <a:r>
              <a:rPr lang="ru-RU" dirty="0"/>
              <a:t>тест более точным, проведя его несколько раз для одного и того же числа, но с разными основаниями. Но даже в этом случае существуют числа Кармайкла, проходящие тест для всех чисел, не являющихся их делителями.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Программный модуль для лабораторной работы</a:t>
            </a: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556792"/>
            <a:ext cx="7400544" cy="497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9036496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FF0000"/>
                </a:solidFill>
              </a:rPr>
              <a:t>Возможности программного модуля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268760"/>
            <a:ext cx="8640960" cy="5328592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Генерация простого P</a:t>
            </a:r>
          </a:p>
          <a:p>
            <a:pPr>
              <a:buNone/>
            </a:pPr>
            <a:r>
              <a:rPr lang="ru-RU" dirty="0"/>
              <a:t>Возможность генерации простого числа; количество разрядов генерируемого числа задается пользователем (от 1 до 5).</a:t>
            </a:r>
          </a:p>
          <a:p>
            <a:r>
              <a:rPr lang="ru-RU" b="1" dirty="0"/>
              <a:t>Поиск в интервале</a:t>
            </a:r>
          </a:p>
          <a:p>
            <a:pPr>
              <a:buNone/>
            </a:pPr>
            <a:r>
              <a:rPr lang="ru-RU" dirty="0"/>
              <a:t>Возможность поиска простых чисел в заданном интервале.</a:t>
            </a:r>
          </a:p>
          <a:p>
            <a:pPr>
              <a:buNone/>
            </a:pPr>
            <a:r>
              <a:rPr lang="ru-RU" dirty="0"/>
              <a:t>Пользователем задается: начало интервала – значение </a:t>
            </a:r>
            <a:r>
              <a:rPr lang="ru-RU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/>
              <a:t>, затем длина интервала – значение </a:t>
            </a:r>
            <a:r>
              <a:rPr lang="ru-RU" b="1" i="1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dirty="0"/>
              <a:t>. Поиск будет осуществляться в интервале </a:t>
            </a:r>
            <a:r>
              <a:rPr lang="ru-RU" b="1" i="1" dirty="0">
                <a:latin typeface="Times New Roman" pitchFamily="18" charset="0"/>
                <a:cs typeface="Times New Roman" pitchFamily="18" charset="0"/>
              </a:rPr>
              <a:t>(x, x+L).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dirty="0" smtClean="0"/>
              <a:t>В </a:t>
            </a:r>
            <a:r>
              <a:rPr lang="ru-RU" dirty="0"/>
              <a:t>методе пробных делений исходные данные – количество первых простых чисел для деления, а в тесте Ферма </a:t>
            </a:r>
            <a:r>
              <a:rPr lang="en-US" dirty="0" smtClean="0"/>
              <a:t>- </a:t>
            </a:r>
            <a:r>
              <a:rPr lang="ru-RU" dirty="0" smtClean="0"/>
              <a:t>количество </a:t>
            </a:r>
            <a:r>
              <a:rPr lang="ru-RU" dirty="0"/>
              <a:t>оснований и их значения.</a:t>
            </a:r>
          </a:p>
          <a:p>
            <a:r>
              <a:rPr lang="ru-RU" b="1" dirty="0" smtClean="0"/>
              <a:t>Проверка </a:t>
            </a:r>
            <a:r>
              <a:rPr lang="ru-RU" b="1" dirty="0"/>
              <a:t>на простоту</a:t>
            </a:r>
          </a:p>
          <a:p>
            <a:pPr>
              <a:buNone/>
            </a:pPr>
            <a:r>
              <a:rPr lang="ru-RU" dirty="0"/>
              <a:t>Возможность проверки на простоту любого числа. Необходимо ввести число и параметры расчета аналогично поиску в интервале.</a:t>
            </a:r>
          </a:p>
          <a:p>
            <a:r>
              <a:rPr lang="ru-RU" b="1" dirty="0"/>
              <a:t>Вывод результатов</a:t>
            </a:r>
          </a:p>
          <a:p>
            <a:pPr>
              <a:buNone/>
            </a:pPr>
            <a:r>
              <a:rPr lang="ru-RU" dirty="0"/>
              <a:t>Возможность просмотра всех результатов последней </a:t>
            </a:r>
            <a:r>
              <a:rPr lang="ru-RU" dirty="0" smtClean="0"/>
              <a:t>обработки</a:t>
            </a:r>
            <a:r>
              <a:rPr lang="en-US" dirty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Задание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/>
              <a:t>1.Проверить на простоту два произвольных целых числа, разрядностью не менее 5.</a:t>
            </a:r>
          </a:p>
          <a:p>
            <a:pPr>
              <a:buNone/>
            </a:pPr>
            <a:r>
              <a:rPr lang="ru-RU" dirty="0"/>
              <a:t>2.Распределение простых чисел.</a:t>
            </a:r>
          </a:p>
          <a:p>
            <a:pPr lvl="1">
              <a:buNone/>
            </a:pPr>
            <a:r>
              <a:rPr lang="ru-RU" dirty="0"/>
              <a:t>2.1.Задан интервал вида </a:t>
            </a:r>
            <a:r>
              <a:rPr lang="ru-RU" i="1" dirty="0"/>
              <a:t>[</a:t>
            </a:r>
            <a:r>
              <a:rPr lang="ru-RU" i="1" dirty="0" err="1"/>
              <a:t>х</a:t>
            </a:r>
            <a:r>
              <a:rPr lang="ru-RU" i="1" dirty="0"/>
              <a:t>, x+L]</a:t>
            </a:r>
            <a:r>
              <a:rPr lang="ru-RU" dirty="0"/>
              <a:t>. Вычислить количество </a:t>
            </a:r>
            <a:r>
              <a:rPr lang="el-GR" i="1" dirty="0" smtClean="0"/>
              <a:t>π</a:t>
            </a:r>
            <a:r>
              <a:rPr lang="ru-RU" i="1" dirty="0" smtClean="0"/>
              <a:t>(</a:t>
            </a:r>
            <a:r>
              <a:rPr lang="ru-RU" i="1" dirty="0" err="1" smtClean="0"/>
              <a:t>х</a:t>
            </a:r>
            <a:r>
              <a:rPr lang="ru-RU" i="1" dirty="0"/>
              <a:t>, L)</a:t>
            </a:r>
            <a:endParaRPr lang="ru-RU" dirty="0"/>
          </a:p>
          <a:p>
            <a:pPr lvl="1">
              <a:buNone/>
            </a:pPr>
            <a:r>
              <a:rPr lang="ru-RU" dirty="0"/>
              <a:t>простых чисел в интервале и сравнить с величиной </a:t>
            </a:r>
            <a:r>
              <a:rPr lang="ru-RU" i="1" dirty="0"/>
              <a:t>L/</a:t>
            </a:r>
            <a:r>
              <a:rPr lang="ru-RU" i="1" dirty="0" err="1"/>
              <a:t>ln</a:t>
            </a:r>
            <a:r>
              <a:rPr lang="ru-RU" i="1" dirty="0"/>
              <a:t>(x)</a:t>
            </a:r>
            <a:r>
              <a:rPr lang="ru-RU" dirty="0"/>
              <a:t>. При каких</a:t>
            </a:r>
          </a:p>
          <a:p>
            <a:pPr lvl="1">
              <a:buNone/>
            </a:pPr>
            <a:r>
              <a:rPr lang="ru-RU" dirty="0"/>
              <a:t>условиях </a:t>
            </a:r>
            <a:r>
              <a:rPr lang="el-GR" i="1" dirty="0" smtClean="0"/>
              <a:t>π</a:t>
            </a:r>
            <a:r>
              <a:rPr lang="ru-RU" i="1" dirty="0" smtClean="0"/>
              <a:t>(</a:t>
            </a:r>
            <a:r>
              <a:rPr lang="ru-RU" i="1" dirty="0" err="1" smtClean="0"/>
              <a:t>x,L</a:t>
            </a:r>
            <a:r>
              <a:rPr lang="ru-RU" i="1" dirty="0"/>
              <a:t>)/L </a:t>
            </a:r>
            <a:r>
              <a:rPr lang="ru-RU" dirty="0"/>
              <a:t>близко к </a:t>
            </a:r>
            <a:r>
              <a:rPr lang="ru-RU" i="1" dirty="0"/>
              <a:t>1/</a:t>
            </a:r>
            <a:r>
              <a:rPr lang="ru-RU" i="1" dirty="0" err="1"/>
              <a:t>ln</a:t>
            </a:r>
            <a:r>
              <a:rPr lang="ru-RU" i="1" dirty="0"/>
              <a:t>(x)</a:t>
            </a:r>
            <a:r>
              <a:rPr lang="ru-RU" dirty="0"/>
              <a:t>?</a:t>
            </a:r>
          </a:p>
          <a:p>
            <a:pPr lvl="1">
              <a:buNone/>
            </a:pPr>
            <a:r>
              <a:rPr lang="ru-RU" i="1" dirty="0"/>
              <a:t>х</a:t>
            </a:r>
            <a:r>
              <a:rPr lang="ru-RU" dirty="0"/>
              <a:t>=2000, </a:t>
            </a:r>
            <a:r>
              <a:rPr lang="ru-RU" i="1" dirty="0"/>
              <a:t>L</a:t>
            </a:r>
            <a:r>
              <a:rPr lang="ru-RU" dirty="0"/>
              <a:t>=500,</a:t>
            </a:r>
          </a:p>
          <a:p>
            <a:pPr lvl="1">
              <a:buNone/>
            </a:pPr>
            <a:r>
              <a:rPr lang="ru-RU" dirty="0"/>
              <a:t>количество простых чисел для деления: 5-15,</a:t>
            </a:r>
          </a:p>
          <a:p>
            <a:pPr lvl="1">
              <a:buNone/>
            </a:pPr>
            <a:r>
              <a:rPr lang="ru-RU" dirty="0"/>
              <a:t>количество оснований: 1-2.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Задание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ru-RU" dirty="0" smtClean="0"/>
              <a:t>2.2. Найти в заданном интервале все простые числа. Пусть </a:t>
            </a:r>
            <a:r>
              <a:rPr lang="ru-RU" i="1" dirty="0" smtClean="0"/>
              <a:t>L(i) </a:t>
            </a:r>
            <a:r>
              <a:rPr lang="ru-RU" dirty="0" smtClean="0"/>
              <a:t>– разность между двумя соседними простыми числами. Построить гистограмму для </a:t>
            </a:r>
            <a:r>
              <a:rPr lang="ru-RU" i="1" dirty="0" smtClean="0"/>
              <a:t>L(i). </a:t>
            </a:r>
            <a:r>
              <a:rPr lang="ru-RU" dirty="0" smtClean="0"/>
              <a:t>Вычислить выборочное среднее </a:t>
            </a:r>
            <a:r>
              <a:rPr lang="ru-RU" i="1" dirty="0" smtClean="0"/>
              <a:t>L</a:t>
            </a:r>
            <a:r>
              <a:rPr lang="ru-RU" baseline="-25000" dirty="0" smtClean="0"/>
              <a:t>сред</a:t>
            </a:r>
            <a:r>
              <a:rPr lang="ru-RU" dirty="0" smtClean="0"/>
              <a:t> . Сравнить с величиной </a:t>
            </a:r>
            <a:r>
              <a:rPr lang="ru-RU" i="1" dirty="0" err="1" smtClean="0"/>
              <a:t>ln</a:t>
            </a:r>
            <a:r>
              <a:rPr lang="ru-RU" i="1" dirty="0" smtClean="0"/>
              <a:t>(x)</a:t>
            </a:r>
            <a:r>
              <a:rPr lang="ru-RU" dirty="0" smtClean="0"/>
              <a:t>, где </a:t>
            </a:r>
            <a:r>
              <a:rPr lang="ru-RU" i="1" dirty="0" err="1" smtClean="0"/>
              <a:t>х</a:t>
            </a:r>
            <a:r>
              <a:rPr lang="ru-RU" i="1" dirty="0" smtClean="0"/>
              <a:t> </a:t>
            </a:r>
            <a:r>
              <a:rPr lang="ru-RU" dirty="0" smtClean="0"/>
              <a:t>– середина интервала.</a:t>
            </a:r>
          </a:p>
          <a:p>
            <a:pPr>
              <a:buNone/>
            </a:pPr>
            <a:r>
              <a:rPr lang="ru-RU" dirty="0" smtClean="0"/>
              <a:t>Интервал</a:t>
            </a:r>
            <a:r>
              <a:rPr lang="ru-RU" dirty="0"/>
              <a:t>: (1000, 1000+300):</a:t>
            </a:r>
          </a:p>
          <a:p>
            <a:pPr>
              <a:buNone/>
            </a:pPr>
            <a:r>
              <a:rPr lang="ru-RU" dirty="0"/>
              <a:t>количество простых чисел для деления: 5-20,</a:t>
            </a:r>
          </a:p>
          <a:p>
            <a:pPr>
              <a:buNone/>
            </a:pPr>
            <a:r>
              <a:rPr lang="ru-RU" dirty="0"/>
              <a:t>количество оснований: 1-3</a:t>
            </a:r>
            <a:r>
              <a:rPr lang="ru-RU" dirty="0" smtClean="0"/>
              <a:t>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2.3</a:t>
            </a:r>
            <a:r>
              <a:rPr lang="ru-RU" dirty="0" smtClean="0"/>
              <a:t>. Для </a:t>
            </a:r>
            <a:r>
              <a:rPr lang="ru-RU" dirty="0"/>
              <a:t>заданного набора чисел {</a:t>
            </a:r>
            <a:r>
              <a:rPr lang="ru-RU" i="1" dirty="0"/>
              <a:t>k</a:t>
            </a:r>
            <a:r>
              <a:rPr lang="ru-RU" dirty="0"/>
              <a:t>} оценить относительную погрешность формулы для </a:t>
            </a:r>
            <a:r>
              <a:rPr lang="ru-RU" i="1" dirty="0"/>
              <a:t>k </a:t>
            </a:r>
            <a:r>
              <a:rPr lang="ru-RU" dirty="0"/>
              <a:t>-го простого числа:</a:t>
            </a:r>
          </a:p>
          <a:p>
            <a:pPr>
              <a:buNone/>
            </a:pPr>
            <a:r>
              <a:rPr lang="ru-RU" i="1" dirty="0" smtClean="0"/>
              <a:t>p(k)=k/</a:t>
            </a:r>
            <a:r>
              <a:rPr lang="ru-RU" i="1" dirty="0" err="1" smtClean="0"/>
              <a:t>ln</a:t>
            </a:r>
            <a:r>
              <a:rPr lang="ru-RU" i="1" dirty="0" smtClean="0"/>
              <a:t>(k), k</a:t>
            </a:r>
            <a:r>
              <a:rPr lang="ru-RU" dirty="0" smtClean="0"/>
              <a:t>={10, 15, 20, 30, 35}.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Задание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/>
              <a:t>3</a:t>
            </a:r>
            <a:r>
              <a:rPr lang="ru-RU" dirty="0" smtClean="0"/>
              <a:t>. Методы </a:t>
            </a:r>
            <a:r>
              <a:rPr lang="ru-RU" dirty="0"/>
              <a:t>генерации простых чисел.</a:t>
            </a:r>
          </a:p>
          <a:p>
            <a:pPr>
              <a:buNone/>
            </a:pPr>
            <a:r>
              <a:rPr lang="ru-RU" dirty="0"/>
              <a:t>3.1</a:t>
            </a:r>
            <a:r>
              <a:rPr lang="ru-RU" dirty="0" smtClean="0"/>
              <a:t>. В </a:t>
            </a:r>
            <a:r>
              <a:rPr lang="ru-RU" dirty="0"/>
              <a:t>заданном интервале построить график относительного количества натуральных чисел, проходящих “решето Эратосфена”</a:t>
            </a:r>
          </a:p>
          <a:p>
            <a:pPr>
              <a:buNone/>
            </a:pPr>
            <a:r>
              <a:rPr lang="ru-RU" dirty="0"/>
              <a:t>(т. е. не делящихся на первые </a:t>
            </a:r>
            <a:r>
              <a:rPr lang="ru-RU" i="1" dirty="0"/>
              <a:t>k </a:t>
            </a:r>
            <a:r>
              <a:rPr lang="ru-RU" dirty="0"/>
              <a:t>простых).</a:t>
            </a:r>
          </a:p>
          <a:p>
            <a:pPr>
              <a:buNone/>
            </a:pPr>
            <a:r>
              <a:rPr lang="ru-RU" dirty="0"/>
              <a:t>Интервал: (500, 500+200).</a:t>
            </a:r>
          </a:p>
          <a:p>
            <a:pPr>
              <a:buNone/>
            </a:pPr>
            <a:r>
              <a:rPr lang="ru-RU" dirty="0"/>
              <a:t>Расчет производится для всех </a:t>
            </a:r>
            <a:r>
              <a:rPr lang="ru-RU" i="1" dirty="0"/>
              <a:t>k</a:t>
            </a:r>
            <a:r>
              <a:rPr lang="ru-RU" dirty="0"/>
              <a:t>&lt;=10.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</a:rPr>
              <a:t>Задание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400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200" dirty="0" smtClean="0"/>
              <a:t>3.2.  Для заданного интервала:</a:t>
            </a:r>
          </a:p>
          <a:p>
            <a:pPr>
              <a:buNone/>
            </a:pPr>
            <a:r>
              <a:rPr lang="ru-RU" sz="2200" dirty="0" smtClean="0"/>
              <a:t>а) рассчитать точное количество </a:t>
            </a:r>
            <a:r>
              <a:rPr lang="ru-RU" sz="2200" i="1" dirty="0" smtClean="0"/>
              <a:t>Р0 </a:t>
            </a:r>
            <a:r>
              <a:rPr lang="ru-RU" sz="2200" dirty="0" smtClean="0"/>
              <a:t>простых чисел в интервале, т.е. при проверке задать только тест на делимость.</a:t>
            </a:r>
          </a:p>
          <a:p>
            <a:pPr>
              <a:buNone/>
            </a:pPr>
            <a:r>
              <a:rPr lang="ru-RU" sz="2200" dirty="0" smtClean="0"/>
              <a:t>Количество первых простых чисел для деления определяется из расчета: максимальное число для деления равно квадратному корню из максимального значения интервала.</a:t>
            </a:r>
          </a:p>
          <a:p>
            <a:pPr>
              <a:buNone/>
            </a:pPr>
            <a:r>
              <a:rPr lang="ru-RU" sz="2200" dirty="0" smtClean="0"/>
              <a:t>б) составить тест с небольшим количеством пробных делений и одним основанием в тесте Ферма. Вычислить количество </a:t>
            </a:r>
            <a:r>
              <a:rPr lang="ru-RU" sz="2200" i="1" dirty="0" smtClean="0"/>
              <a:t>Р</a:t>
            </a:r>
            <a:r>
              <a:rPr lang="ru-RU" sz="2200" i="1" baseline="-25000" dirty="0" smtClean="0"/>
              <a:t>1</a:t>
            </a:r>
            <a:r>
              <a:rPr lang="ru-RU" sz="2200" i="1" dirty="0" smtClean="0"/>
              <a:t> </a:t>
            </a:r>
            <a:r>
              <a:rPr lang="ru-RU" sz="2200" dirty="0" smtClean="0"/>
              <a:t>вероятно простых чисел, удовлетворяющих этому тесту.</a:t>
            </a:r>
          </a:p>
          <a:p>
            <a:pPr>
              <a:buNone/>
            </a:pPr>
            <a:r>
              <a:rPr lang="ru-RU" sz="2200" dirty="0" smtClean="0"/>
              <a:t>в) составить тест с большим, чем в предыдущем случае, количеством пробных делений и двумя или тремя основаниями в тесте Ферма. Вычислить количество </a:t>
            </a:r>
            <a:r>
              <a:rPr lang="ru-RU" sz="2200" i="1" dirty="0" smtClean="0"/>
              <a:t>Р</a:t>
            </a:r>
            <a:r>
              <a:rPr lang="ru-RU" sz="2200" i="1" baseline="-25000" dirty="0" smtClean="0"/>
              <a:t>2</a:t>
            </a:r>
            <a:r>
              <a:rPr lang="ru-RU" sz="2200" i="1" dirty="0" smtClean="0"/>
              <a:t> </a:t>
            </a:r>
            <a:r>
              <a:rPr lang="ru-RU" sz="2200" dirty="0" smtClean="0"/>
              <a:t>вероятно простых чисел, удовлетворяющих этому тесту.</a:t>
            </a:r>
          </a:p>
          <a:p>
            <a:pPr>
              <a:buNone/>
            </a:pPr>
            <a:r>
              <a:rPr lang="ru-RU" sz="2200" dirty="0" smtClean="0"/>
              <a:t>Интервал: (1500,1500 + 300).</a:t>
            </a:r>
          </a:p>
          <a:p>
            <a:pPr>
              <a:buNone/>
            </a:pPr>
            <a:r>
              <a:rPr lang="ru-RU" sz="2200" dirty="0" smtClean="0"/>
              <a:t>Проанализировать полученные данные.</a:t>
            </a:r>
          </a:p>
          <a:p>
            <a:endParaRPr lang="ru-RU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FF0000"/>
                </a:solidFill>
              </a:rPr>
              <a:t>Задание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u-RU" dirty="0"/>
              <a:t>3.3. </a:t>
            </a:r>
            <a:r>
              <a:rPr lang="ru-RU" dirty="0" smtClean="0"/>
              <a:t> Известно</a:t>
            </a:r>
            <a:r>
              <a:rPr lang="ru-RU" dirty="0"/>
              <a:t>, что в заданном интервале имеются числа Кармайкла</a:t>
            </a:r>
            <a:r>
              <a:rPr lang="ru-RU" dirty="0" smtClean="0"/>
              <a:t>. Найти </a:t>
            </a:r>
            <a:r>
              <a:rPr lang="ru-RU" dirty="0"/>
              <a:t>их.</a:t>
            </a:r>
          </a:p>
          <a:p>
            <a:pPr>
              <a:buNone/>
            </a:pPr>
            <a:r>
              <a:rPr lang="ru-RU" dirty="0"/>
              <a:t>Варианты интервалов: (1050, 1050 + </a:t>
            </a:r>
            <a:r>
              <a:rPr lang="ru-RU" dirty="0" smtClean="0"/>
              <a:t>100)</a:t>
            </a:r>
            <a:r>
              <a:rPr lang="en-US" dirty="0" smtClean="0"/>
              <a:t>;</a:t>
            </a:r>
            <a:endParaRPr lang="ru-RU" dirty="0"/>
          </a:p>
          <a:p>
            <a:pPr>
              <a:buNone/>
            </a:pPr>
            <a:r>
              <a:rPr lang="ru-RU" dirty="0"/>
              <a:t>(1700, 1700 + 100</a:t>
            </a:r>
            <a:r>
              <a:rPr lang="ru-RU" dirty="0" smtClean="0"/>
              <a:t>)</a:t>
            </a:r>
            <a:r>
              <a:rPr lang="en-US" dirty="0" smtClean="0"/>
              <a:t>;</a:t>
            </a:r>
            <a:r>
              <a:rPr lang="ru-RU" dirty="0" smtClean="0"/>
              <a:t> </a:t>
            </a:r>
            <a:r>
              <a:rPr lang="ru-RU" dirty="0"/>
              <a:t>(2400, 2400 + 100</a:t>
            </a:r>
            <a:r>
              <a:rPr lang="ru-RU" dirty="0" smtClean="0"/>
              <a:t>)</a:t>
            </a:r>
            <a:r>
              <a:rPr lang="en-US" dirty="0" smtClean="0"/>
              <a:t>.</a:t>
            </a:r>
            <a:endParaRPr lang="ru-RU" dirty="0"/>
          </a:p>
          <a:p>
            <a:pPr>
              <a:buNone/>
            </a:pPr>
            <a:r>
              <a:rPr lang="ru-RU" dirty="0"/>
              <a:t>4. </a:t>
            </a:r>
            <a:r>
              <a:rPr lang="ru-RU" dirty="0" smtClean="0"/>
              <a:t> Привести </a:t>
            </a:r>
            <a:r>
              <a:rPr lang="ru-RU" dirty="0"/>
              <a:t>в отчете ответы на контрольные вопросы, в соответствии с номером </a:t>
            </a:r>
            <a:r>
              <a:rPr lang="ru-RU" dirty="0" smtClean="0"/>
              <a:t>варианта</a:t>
            </a:r>
            <a:r>
              <a:rPr lang="en-US" dirty="0" smtClean="0"/>
              <a:t> </a:t>
            </a:r>
            <a:r>
              <a:rPr lang="ru-RU" dirty="0" smtClean="0"/>
              <a:t>по журналу.</a:t>
            </a:r>
            <a:endParaRPr lang="ru-RU" dirty="0"/>
          </a:p>
          <a:p>
            <a:pPr>
              <a:buNone/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263</Words>
  <Application>Microsoft Office PowerPoint</Application>
  <PresentationFormat>Экран (4:3)</PresentationFormat>
  <Paragraphs>77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Генерация простых чисел, используемых в асимметричных алгоритмах шифрования</vt:lpstr>
      <vt:lpstr>Вероятность (в процентах) оказаться простым для k-значных чисел:</vt:lpstr>
      <vt:lpstr>Функция π(x)</vt:lpstr>
      <vt:lpstr>Малая теорема Ферма</vt:lpstr>
      <vt:lpstr>Псевдопростые числа</vt:lpstr>
      <vt:lpstr>Метод пробных делений</vt:lpstr>
      <vt:lpstr>Решето Эратосфена</vt:lpstr>
      <vt:lpstr>Тест Ферма на простоту</vt:lpstr>
      <vt:lpstr>Программный модуль для лабораторной работы</vt:lpstr>
      <vt:lpstr>Возможности программного модуля:</vt:lpstr>
      <vt:lpstr>Задание</vt:lpstr>
      <vt:lpstr>Задание</vt:lpstr>
      <vt:lpstr>Задание</vt:lpstr>
      <vt:lpstr>Задание</vt:lpstr>
      <vt:lpstr>Задание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Генерация простых чисел, используемых в асимметричных алгоритмах шифрования</dc:title>
  <dc:creator>Вадим</dc:creator>
  <cp:lastModifiedBy>Вадим</cp:lastModifiedBy>
  <cp:revision>29</cp:revision>
  <dcterms:created xsi:type="dcterms:W3CDTF">2020-11-15T17:45:38Z</dcterms:created>
  <dcterms:modified xsi:type="dcterms:W3CDTF">2026-02-08T15:23:32Z</dcterms:modified>
</cp:coreProperties>
</file>