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5" r:id="rId8"/>
    <p:sldId id="267" r:id="rId9"/>
    <p:sldId id="268" r:id="rId10"/>
    <p:sldId id="266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C40-F4CB-4FC4-9A45-BF1A92C8B35A}" type="datetimeFigureOut">
              <a:rPr lang="ru-RU" smtClean="0"/>
              <a:t>01.04.2025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EA28-427C-4B2A-9A98-5394D039F2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C40-F4CB-4FC4-9A45-BF1A92C8B35A}" type="datetimeFigureOut">
              <a:rPr lang="ru-RU" smtClean="0"/>
              <a:t>01.04.2025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EA28-427C-4B2A-9A98-5394D039F2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C40-F4CB-4FC4-9A45-BF1A92C8B35A}" type="datetimeFigureOut">
              <a:rPr lang="ru-RU" smtClean="0"/>
              <a:t>01.04.2025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EA28-427C-4B2A-9A98-5394D039F2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C40-F4CB-4FC4-9A45-BF1A92C8B35A}" type="datetimeFigureOut">
              <a:rPr lang="ru-RU" smtClean="0"/>
              <a:t>01.04.2025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EA28-427C-4B2A-9A98-5394D039F2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C40-F4CB-4FC4-9A45-BF1A92C8B35A}" type="datetimeFigureOut">
              <a:rPr lang="ru-RU" smtClean="0"/>
              <a:t>01.04.2025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EA28-427C-4B2A-9A98-5394D039F2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C40-F4CB-4FC4-9A45-BF1A92C8B35A}" type="datetimeFigureOut">
              <a:rPr lang="ru-RU" smtClean="0"/>
              <a:t>01.04.2025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EA28-427C-4B2A-9A98-5394D039F2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C40-F4CB-4FC4-9A45-BF1A92C8B35A}" type="datetimeFigureOut">
              <a:rPr lang="ru-RU" smtClean="0"/>
              <a:t>01.04.2025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EA28-427C-4B2A-9A98-5394D039F2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C40-F4CB-4FC4-9A45-BF1A92C8B35A}" type="datetimeFigureOut">
              <a:rPr lang="ru-RU" smtClean="0"/>
              <a:t>01.04.2025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EA28-427C-4B2A-9A98-5394D039F2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C40-F4CB-4FC4-9A45-BF1A92C8B35A}" type="datetimeFigureOut">
              <a:rPr lang="ru-RU" smtClean="0"/>
              <a:t>01.04.2025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EA28-427C-4B2A-9A98-5394D039F2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C40-F4CB-4FC4-9A45-BF1A92C8B35A}" type="datetimeFigureOut">
              <a:rPr lang="ru-RU" smtClean="0"/>
              <a:t>01.04.2025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EA28-427C-4B2A-9A98-5394D039F2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C40-F4CB-4FC4-9A45-BF1A92C8B35A}" type="datetimeFigureOut">
              <a:rPr lang="ru-RU" smtClean="0"/>
              <a:t>01.04.2025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7EA28-427C-4B2A-9A98-5394D039F2A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53C40-F4CB-4FC4-9A45-BF1A92C8B35A}" type="datetimeFigureOut">
              <a:rPr lang="ru-RU" smtClean="0"/>
              <a:t>01.04.2025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7EA28-427C-4B2A-9A98-5394D039F2AF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56793"/>
            <a:ext cx="7772400" cy="2043658"/>
          </a:xfrm>
        </p:spPr>
        <p:txBody>
          <a:bodyPr>
            <a:noAutofit/>
          </a:bodyPr>
          <a:lstStyle/>
          <a:p>
            <a:r>
              <a:rPr lang="ru-RU" b="1" dirty="0"/>
              <a:t>Блочные </a:t>
            </a:r>
            <a:r>
              <a:rPr lang="ru-RU" b="1"/>
              <a:t>составные </a:t>
            </a:r>
            <a:r>
              <a:rPr lang="ru-RU" b="1" smtClean="0"/>
              <a:t>шифры </a:t>
            </a:r>
            <a:r>
              <a:rPr lang="ru-RU" b="1" dirty="0"/>
              <a:t>Сеть Фейстеля</a:t>
            </a:r>
            <a:endParaRPr lang="ru-RU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Простейший итерационный шифр</a:t>
            </a:r>
          </a:p>
        </p:txBody>
      </p:sp>
      <p:pic>
        <p:nvPicPr>
          <p:cNvPr id="4" name="Содержимое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1196752"/>
            <a:ext cx="4806239" cy="5271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Свойства стойких шифров</a:t>
            </a:r>
            <a:r>
              <a:rPr lang="en-US" b="1" dirty="0" smtClean="0"/>
              <a:t>: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Диффузия</a:t>
            </a:r>
            <a:r>
              <a:rPr lang="ru-RU" dirty="0"/>
              <a:t> </a:t>
            </a:r>
            <a:r>
              <a:rPr lang="en-US" dirty="0" smtClean="0"/>
              <a:t>-</a:t>
            </a:r>
            <a:r>
              <a:rPr lang="ru-RU" dirty="0" smtClean="0"/>
              <a:t> </a:t>
            </a:r>
            <a:r>
              <a:rPr lang="ru-RU" dirty="0"/>
              <a:t>распространение влияния одного знака открытого текста на значительное количество знаков </a:t>
            </a:r>
            <a:r>
              <a:rPr lang="ru-RU" dirty="0" smtClean="0"/>
              <a:t>шифротекста</a:t>
            </a:r>
            <a:endParaRPr lang="en-US" dirty="0" smtClean="0"/>
          </a:p>
          <a:p>
            <a:r>
              <a:rPr lang="ru-RU" b="1" dirty="0"/>
              <a:t>Конфузия</a:t>
            </a:r>
            <a:r>
              <a:rPr lang="ru-RU" dirty="0"/>
              <a:t> — отсутствие статистической взаимосвязи между ключом и зашифрованным текстом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Лавинный эффект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4762872" cy="4896544"/>
          </a:xfrm>
        </p:spPr>
        <p:txBody>
          <a:bodyPr>
            <a:normAutofit fontScale="40000" lnSpcReduction="20000"/>
          </a:bodyPr>
          <a:lstStyle/>
          <a:p>
            <a:r>
              <a:rPr lang="ru-RU" sz="6000" dirty="0" smtClean="0"/>
              <a:t>Изменение значения малого количества битов во входном тексте или в ключе ведет к «лавинному» изменению значений выходных битов шифротекста</a:t>
            </a:r>
          </a:p>
          <a:p>
            <a:pPr>
              <a:buNone/>
            </a:pPr>
            <a:endParaRPr lang="ru-RU" sz="6000" dirty="0" smtClean="0"/>
          </a:p>
          <a:p>
            <a:r>
              <a:rPr lang="ru-RU" sz="6000" dirty="0" smtClean="0"/>
              <a:t>Криптографический алгоритм удовлетворяет лавинному критерию, если при изменении одного бита входной последовательности изменяется в среднем половина выходных битов</a:t>
            </a:r>
          </a:p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6096" y="1340768"/>
            <a:ext cx="3162300" cy="473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33363"/>
            <a:ext cx="8534400" cy="639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Реализация принципов диффузии и конфузии в </a:t>
            </a:r>
            <a:r>
              <a:rPr lang="en-US" b="1" dirty="0"/>
              <a:t>SP</a:t>
            </a:r>
            <a:r>
              <a:rPr lang="ru-RU" b="1" dirty="0"/>
              <a:t>-сети</a:t>
            </a:r>
          </a:p>
        </p:txBody>
      </p:sp>
      <p:pic>
        <p:nvPicPr>
          <p:cNvPr id="4" name="Содержимое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1412776"/>
            <a:ext cx="4266133" cy="524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Сеть Фейстеля</a:t>
            </a:r>
            <a:endParaRPr lang="ru-RU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39" y="1556791"/>
            <a:ext cx="3685032" cy="4463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Содержимое 7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1556792"/>
            <a:ext cx="4257675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Расширенная сеть Фейстеля (</a:t>
            </a:r>
            <a:r>
              <a:rPr lang="en-US" b="1" dirty="0" smtClean="0"/>
              <a:t>RC6)</a:t>
            </a:r>
            <a:endParaRPr lang="ru-RU" b="1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484784"/>
            <a:ext cx="6868516" cy="4468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SP-</a:t>
            </a:r>
            <a:r>
              <a:rPr lang="ru-RU" b="1" dirty="0" smtClean="0"/>
              <a:t>сеть</a:t>
            </a:r>
            <a:br>
              <a:rPr lang="ru-RU" b="1" dirty="0" smtClean="0"/>
            </a:br>
            <a:r>
              <a:rPr lang="ru-RU" b="1" dirty="0" smtClean="0"/>
              <a:t>(применяется реже сети Фейстеля)</a:t>
            </a:r>
            <a:endParaRPr lang="ru-RU" b="1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1772816"/>
            <a:ext cx="5720486" cy="4272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95536" y="62068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ГОСТ 28147-89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1412776"/>
            <a:ext cx="5601843" cy="4531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106</Words>
  <Application>Microsoft Office PowerPoint</Application>
  <PresentationFormat>Экран (4:3)</PresentationFormat>
  <Paragraphs>14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Тема Office</vt:lpstr>
      <vt:lpstr>Блочные составные шифры Сеть Фейстеля</vt:lpstr>
      <vt:lpstr>Простейший итерационный шифр</vt:lpstr>
      <vt:lpstr>Свойства стойких шифров:</vt:lpstr>
      <vt:lpstr>Лавинный эффект</vt:lpstr>
      <vt:lpstr>Презентация PowerPoint</vt:lpstr>
      <vt:lpstr>Реализация принципов диффузии и конфузии в SP-сети</vt:lpstr>
      <vt:lpstr>Сеть Фейстеля</vt:lpstr>
      <vt:lpstr>Расширенная сеть Фейстеля (RC6)</vt:lpstr>
      <vt:lpstr>SP-сеть (применяется реже сети Фейстеля)</vt:lpstr>
      <vt:lpstr>ГОСТ 28147-89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Сеть Фейстеля. Алгоритм симметричного шифрования ГОСТ 28147-89</dc:title>
  <dc:creator>Вадим</dc:creator>
  <cp:lastModifiedBy>Стучилин Владимир Валерьевич</cp:lastModifiedBy>
  <cp:revision>29</cp:revision>
  <dcterms:created xsi:type="dcterms:W3CDTF">2020-11-03T07:15:23Z</dcterms:created>
  <dcterms:modified xsi:type="dcterms:W3CDTF">2025-04-01T11:25:19Z</dcterms:modified>
</cp:coreProperties>
</file>